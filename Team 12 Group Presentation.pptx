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2" roundtripDataSignature="AMtx7mj0b9yyoFJ/djaAthDRCECW8ERx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FDA4805-2A1D-4A44-BDEA-88B3F0852599}">
  <a:tblStyle styleId="{1FDA4805-2A1D-4A44-BDEA-88B3F085259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af1df6313f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af1df6313f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" name="Google Shape;75;gaf1df6313f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af1df6313f_3_2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af1df6313f_3_2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gaf1df6313f_3_2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af1df6313f_3_141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5" name="Google Shape;15;gaf1df6313f_3_141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6" name="Google Shape;16;gaf1df6313f_3_14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af1df6313f_3_15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9" name="Google Shape;19;gaf1df6313f_3_15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af1df6313f_3_18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gaf1df6313f_3_18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3" name="Google Shape;23;gaf1df6313f_3_18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gaf1df6313f_3_18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gaf1df6313f_3_18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af1df6313f_3_145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8" name="Google Shape;28;gaf1df6313f_3_14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af1df6313f_3_14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" name="Google Shape;31;gaf1df6313f_3_14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2" name="Google Shape;32;gaf1df6313f_3_14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af1df6313f_3_15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5" name="Google Shape;35;gaf1df6313f_3_152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6" name="Google Shape;36;gaf1df6313f_3_152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7" name="Google Shape;37;gaf1df6313f_3_15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af1df6313f_3_160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0" name="Google Shape;40;gaf1df6313f_3_160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1" name="Google Shape;41;gaf1df6313f_3_16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af1df6313f_3_164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44" name="Google Shape;44;gaf1df6313f_3_16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af1df6313f_3_167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gaf1df6313f_3_167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8" name="Google Shape;48;gaf1df6313f_3_167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9" name="Google Shape;49;gaf1df6313f_3_167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0" name="Google Shape;50;gaf1df6313f_3_16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af1df6313f_3_173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3" name="Google Shape;53;gaf1df6313f_3_17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af1df6313f_3_176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6" name="Google Shape;56;gaf1df6313f_3_176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7" name="Google Shape;57;gaf1df6313f_3_17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af1df6313f_3_18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af1df6313f_3_13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af1df6313f_3_13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af1df6313f_3_13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2"/>
          <p:cNvPicPr preferRelativeResize="0"/>
          <p:nvPr/>
        </p:nvPicPr>
        <p:blipFill rotWithShape="1">
          <a:blip r:embed="rId3">
            <a:alphaModFix/>
          </a:blip>
          <a:srcRect b="0" l="11879" r="20425" t="0"/>
          <a:stretch/>
        </p:blipFill>
        <p:spPr>
          <a:xfrm>
            <a:off x="-12559" y="0"/>
            <a:ext cx="8253306" cy="6857999"/>
          </a:xfrm>
          <a:prstGeom prst="rect">
            <a:avLst/>
          </a:prstGeom>
          <a:noFill/>
          <a:ln>
            <a:noFill/>
          </a:ln>
          <a:effectLst>
            <a:outerShdw rotWithShape="0" algn="ctr">
              <a:srgbClr val="000000"/>
            </a:outerShdw>
          </a:effectLst>
        </p:spPr>
      </p:pic>
      <p:sp>
        <p:nvSpPr>
          <p:cNvPr id="66" name="Google Shape;66;p2"/>
          <p:cNvSpPr/>
          <p:nvPr/>
        </p:nvSpPr>
        <p:spPr>
          <a:xfrm>
            <a:off x="0" y="6574971"/>
            <a:ext cx="12192000" cy="283029"/>
          </a:xfrm>
          <a:prstGeom prst="rect">
            <a:avLst/>
          </a:prstGeom>
          <a:solidFill>
            <a:srgbClr val="323F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 txBox="1"/>
          <p:nvPr>
            <p:ph type="ctrTitle"/>
          </p:nvPr>
        </p:nvSpPr>
        <p:spPr>
          <a:xfrm>
            <a:off x="-40640" y="1446811"/>
            <a:ext cx="8383883" cy="11082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6030">
                <a:latin typeface="Times New Roman"/>
                <a:ea typeface="Times New Roman"/>
                <a:cs typeface="Times New Roman"/>
                <a:sym typeface="Times New Roman"/>
              </a:rPr>
              <a:t>Team 12</a:t>
            </a:r>
            <a:br>
              <a:rPr lang="en-US" sz="621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959">
                <a:latin typeface="Calibri"/>
                <a:ea typeface="Calibri"/>
                <a:cs typeface="Calibri"/>
                <a:sym typeface="Calibri"/>
              </a:rPr>
              <a:t>County Voter Prediction in US Elections</a:t>
            </a:r>
            <a:endParaRPr sz="1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lang="en-US" sz="3240">
                <a:latin typeface="Times New Roman"/>
                <a:ea typeface="Times New Roman"/>
                <a:cs typeface="Times New Roman"/>
                <a:sym typeface="Times New Roman"/>
              </a:rPr>
              <a:t>Business Analytics IEOR 4650</a:t>
            </a:r>
            <a:endParaRPr sz="324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2361252" y="6591881"/>
            <a:ext cx="7469495" cy="2442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TEAM 12 – IEOR 4650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" name="Google Shape;69;p2"/>
          <p:cNvCxnSpPr/>
          <p:nvPr/>
        </p:nvCxnSpPr>
        <p:spPr>
          <a:xfrm>
            <a:off x="108159" y="2008225"/>
            <a:ext cx="745409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" name="Google Shape;70;p2"/>
          <p:cNvSpPr txBox="1"/>
          <p:nvPr>
            <p:ph idx="12" type="sldNum"/>
          </p:nvPr>
        </p:nvSpPr>
        <p:spPr>
          <a:xfrm>
            <a:off x="11373081" y="6594371"/>
            <a:ext cx="797240" cy="2442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8240750" y="191700"/>
            <a:ext cx="3951300" cy="54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Kyle Ditonto</a:t>
            </a:r>
            <a:endParaRPr b="0" i="0" sz="3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Jordan Tanudjaja</a:t>
            </a:r>
            <a:endParaRPr b="0" i="0" sz="3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Maximiliano Vedoya R</a:t>
            </a:r>
            <a:endParaRPr b="0" i="0" sz="3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Mengyao He</a:t>
            </a:r>
            <a:endParaRPr b="0" i="0" sz="3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af1df6313f_3_0"/>
          <p:cNvSpPr/>
          <p:nvPr/>
        </p:nvSpPr>
        <p:spPr>
          <a:xfrm>
            <a:off x="5934895" y="1420076"/>
            <a:ext cx="2588827" cy="1631820"/>
          </a:xfrm>
          <a:prstGeom prst="rect">
            <a:avLst/>
          </a:prstGeom>
          <a:solidFill>
            <a:srgbClr val="A3D2E9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af1df6313f_3_0"/>
          <p:cNvSpPr/>
          <p:nvPr/>
        </p:nvSpPr>
        <p:spPr>
          <a:xfrm>
            <a:off x="2836080" y="1067553"/>
            <a:ext cx="2731836" cy="3440057"/>
          </a:xfrm>
          <a:prstGeom prst="rect">
            <a:avLst/>
          </a:prstGeom>
          <a:solidFill>
            <a:srgbClr val="FFCC8B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af1df6313f_3_0"/>
          <p:cNvSpPr/>
          <p:nvPr/>
        </p:nvSpPr>
        <p:spPr>
          <a:xfrm>
            <a:off x="233725" y="1420076"/>
            <a:ext cx="2251492" cy="2549974"/>
          </a:xfrm>
          <a:prstGeom prst="rect">
            <a:avLst/>
          </a:prstGeom>
          <a:solidFill>
            <a:srgbClr val="B2B2B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af1df6313f_3_0"/>
          <p:cNvSpPr txBox="1"/>
          <p:nvPr>
            <p:ph idx="1" type="subTitle"/>
          </p:nvPr>
        </p:nvSpPr>
        <p:spPr>
          <a:xfrm>
            <a:off x="116300" y="4154148"/>
            <a:ext cx="12075700" cy="2430196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US" sz="2000" u="sng"/>
              <a:t>Goals </a:t>
            </a:r>
            <a:endParaRPr sz="2000" u="sng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2000"/>
              <a:t>Understand socio-economic features of counties and how they influence number of votes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2000"/>
              <a:t>Build a model to predict the number of votes for the Democratic party in Georgia based on the average socio-economic characteristics of each county.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2000"/>
              <a:t>Determine the top/bottom performing counties campaign results in the 2020 presidential elections.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2000"/>
              <a:t>Propose an optimized campaign strategy for the January 2021 Senate runoff election in Georgia </a:t>
            </a:r>
            <a:endParaRPr/>
          </a:p>
        </p:txBody>
      </p:sp>
      <p:sp>
        <p:nvSpPr>
          <p:cNvPr id="81" name="Google Shape;81;gaf1df6313f_3_0"/>
          <p:cNvSpPr/>
          <p:nvPr/>
        </p:nvSpPr>
        <p:spPr>
          <a:xfrm>
            <a:off x="3258939" y="1349687"/>
            <a:ext cx="1991090" cy="79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Clean each dataset and add them into one single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af1df6313f_3_0"/>
          <p:cNvSpPr txBox="1"/>
          <p:nvPr/>
        </p:nvSpPr>
        <p:spPr>
          <a:xfrm>
            <a:off x="3230134" y="2930803"/>
            <a:ext cx="2048700" cy="62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 and test pre-selected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af1df6313f_3_0"/>
          <p:cNvSpPr txBox="1"/>
          <p:nvPr/>
        </p:nvSpPr>
        <p:spPr>
          <a:xfrm>
            <a:off x="3403834" y="2236281"/>
            <a:ext cx="1701300" cy="58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 selection of potential models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af1df6313f_3_0"/>
          <p:cNvSpPr txBox="1"/>
          <p:nvPr/>
        </p:nvSpPr>
        <p:spPr>
          <a:xfrm>
            <a:off x="3307234" y="3693038"/>
            <a:ext cx="1894500" cy="62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Comparison and final model selection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gaf1df6313f_3_0"/>
          <p:cNvCxnSpPr/>
          <p:nvPr/>
        </p:nvCxnSpPr>
        <p:spPr>
          <a:xfrm>
            <a:off x="2501333" y="2240662"/>
            <a:ext cx="352081" cy="1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6" name="Google Shape;86;gaf1df6313f_3_0"/>
          <p:cNvSpPr/>
          <p:nvPr/>
        </p:nvSpPr>
        <p:spPr>
          <a:xfrm flipH="1">
            <a:off x="6096220" y="1850484"/>
            <a:ext cx="2366542" cy="7929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Georgia votes Prediction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af1df6313f_3_0"/>
          <p:cNvSpPr/>
          <p:nvPr/>
        </p:nvSpPr>
        <p:spPr>
          <a:xfrm>
            <a:off x="0" y="6574971"/>
            <a:ext cx="12192000" cy="282900"/>
          </a:xfrm>
          <a:prstGeom prst="rect">
            <a:avLst/>
          </a:prstGeom>
          <a:solidFill>
            <a:srgbClr val="323F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af1df6313f_3_0"/>
          <p:cNvSpPr txBox="1"/>
          <p:nvPr>
            <p:ph idx="12" type="sldNum"/>
          </p:nvPr>
        </p:nvSpPr>
        <p:spPr>
          <a:xfrm>
            <a:off x="11373081" y="6594371"/>
            <a:ext cx="7971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 of 5</a:t>
            </a:r>
            <a:endParaRPr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af1df6313f_3_0"/>
          <p:cNvSpPr txBox="1"/>
          <p:nvPr/>
        </p:nvSpPr>
        <p:spPr>
          <a:xfrm>
            <a:off x="2361252" y="6591881"/>
            <a:ext cx="7469495" cy="2442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TEAM 12 – IEOR 4650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af1df6313f_3_0"/>
          <p:cNvSpPr txBox="1"/>
          <p:nvPr/>
        </p:nvSpPr>
        <p:spPr>
          <a:xfrm>
            <a:off x="116300" y="43024"/>
            <a:ext cx="9876786" cy="703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SCOPE OF THE PROJECT IS TO COLLECT DATA, ANALYZE THE DATA, PROCESS THE OUTPUT, AND FORMALIZE THE RESULTS INTO ACTIONABLE DECISIONS</a:t>
            </a:r>
            <a:endParaRPr b="0" i="0" sz="6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" name="Google Shape;91;gaf1df6313f_3_0"/>
          <p:cNvGrpSpPr/>
          <p:nvPr/>
        </p:nvGrpSpPr>
        <p:grpSpPr>
          <a:xfrm>
            <a:off x="0" y="546854"/>
            <a:ext cx="12192000" cy="384266"/>
            <a:chOff x="0" y="384809"/>
            <a:chExt cx="12192000" cy="384266"/>
          </a:xfrm>
        </p:grpSpPr>
        <p:sp>
          <p:nvSpPr>
            <p:cNvPr id="92" name="Google Shape;92;gaf1df6313f_3_0"/>
            <p:cNvSpPr/>
            <p:nvPr/>
          </p:nvSpPr>
          <p:spPr>
            <a:xfrm>
              <a:off x="0" y="559011"/>
              <a:ext cx="9756000" cy="210063"/>
            </a:xfrm>
            <a:prstGeom prst="rect">
              <a:avLst/>
            </a:prstGeom>
            <a:solidFill>
              <a:srgbClr val="323F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gaf1df6313f_3_0"/>
            <p:cNvSpPr/>
            <p:nvPr/>
          </p:nvSpPr>
          <p:spPr>
            <a:xfrm>
              <a:off x="9756000" y="384809"/>
              <a:ext cx="237086" cy="384266"/>
            </a:xfrm>
            <a:custGeom>
              <a:rect b="b" l="l" r="r" t="t"/>
              <a:pathLst>
                <a:path extrusionOk="0" h="877824" w="524256">
                  <a:moveTo>
                    <a:pt x="0" y="390144"/>
                  </a:moveTo>
                  <a:lnTo>
                    <a:pt x="524256" y="0"/>
                  </a:lnTo>
                  <a:cubicBezTo>
                    <a:pt x="523557" y="167608"/>
                    <a:pt x="522859" y="335217"/>
                    <a:pt x="522160" y="502825"/>
                  </a:cubicBezTo>
                  <a:lnTo>
                    <a:pt x="0" y="877824"/>
                  </a:lnTo>
                  <a:lnTo>
                    <a:pt x="0" y="390144"/>
                  </a:lnTo>
                  <a:close/>
                </a:path>
              </a:pathLst>
            </a:custGeom>
            <a:solidFill>
              <a:srgbClr val="323F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gaf1df6313f_3_0"/>
            <p:cNvSpPr/>
            <p:nvPr/>
          </p:nvSpPr>
          <p:spPr>
            <a:xfrm>
              <a:off x="9993086" y="384809"/>
              <a:ext cx="2198914" cy="208800"/>
            </a:xfrm>
            <a:prstGeom prst="rect">
              <a:avLst/>
            </a:prstGeom>
            <a:solidFill>
              <a:srgbClr val="323F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" name="Google Shape;95;gaf1df6313f_3_0"/>
          <p:cNvSpPr txBox="1"/>
          <p:nvPr/>
        </p:nvSpPr>
        <p:spPr>
          <a:xfrm>
            <a:off x="577151" y="1488914"/>
            <a:ext cx="15646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af1df6313f_3_0"/>
          <p:cNvSpPr txBox="1"/>
          <p:nvPr/>
        </p:nvSpPr>
        <p:spPr>
          <a:xfrm>
            <a:off x="3436604" y="1051007"/>
            <a:ext cx="15646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gaf1df6313f_3_0"/>
          <p:cNvCxnSpPr/>
          <p:nvPr/>
        </p:nvCxnSpPr>
        <p:spPr>
          <a:xfrm>
            <a:off x="5567916" y="2226614"/>
            <a:ext cx="350863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8" name="Google Shape;98;gaf1df6313f_3_0"/>
          <p:cNvSpPr txBox="1"/>
          <p:nvPr/>
        </p:nvSpPr>
        <p:spPr>
          <a:xfrm>
            <a:off x="6548871" y="1488914"/>
            <a:ext cx="15646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af1df6313f_3_0"/>
          <p:cNvSpPr/>
          <p:nvPr/>
        </p:nvSpPr>
        <p:spPr>
          <a:xfrm>
            <a:off x="8880235" y="1224053"/>
            <a:ext cx="3183389" cy="2184841"/>
          </a:xfrm>
          <a:prstGeom prst="rect">
            <a:avLst/>
          </a:prstGeom>
          <a:solidFill>
            <a:srgbClr val="0EB62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af1df6313f_3_0"/>
          <p:cNvSpPr txBox="1"/>
          <p:nvPr/>
        </p:nvSpPr>
        <p:spPr>
          <a:xfrm>
            <a:off x="9523851" y="1275687"/>
            <a:ext cx="19012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 ADDED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gaf1df6313f_3_0"/>
          <p:cNvCxnSpPr/>
          <p:nvPr/>
        </p:nvCxnSpPr>
        <p:spPr>
          <a:xfrm>
            <a:off x="8523722" y="2207868"/>
            <a:ext cx="350863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" name="Google Shape;102;gaf1df6313f_3_0"/>
          <p:cNvSpPr/>
          <p:nvPr/>
        </p:nvSpPr>
        <p:spPr>
          <a:xfrm>
            <a:off x="9068787" y="1673580"/>
            <a:ext cx="2885274" cy="383055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Targeted Counties of Potential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af1df6313f_3_0"/>
          <p:cNvSpPr/>
          <p:nvPr/>
        </p:nvSpPr>
        <p:spPr>
          <a:xfrm>
            <a:off x="9068787" y="2130401"/>
            <a:ext cx="2885274" cy="581714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Optimized Ad Campaign based on demographics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af1df6313f_3_0"/>
          <p:cNvSpPr/>
          <p:nvPr/>
        </p:nvSpPr>
        <p:spPr>
          <a:xfrm>
            <a:off x="9068787" y="2837633"/>
            <a:ext cx="2885274" cy="383055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Lessons Learned from unlikely “wins” in less Democrat counties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af1df6313f_3_0"/>
          <p:cNvSpPr/>
          <p:nvPr/>
        </p:nvSpPr>
        <p:spPr>
          <a:xfrm>
            <a:off x="396961" y="1866135"/>
            <a:ext cx="2048700" cy="625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Socioeconomic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af1df6313f_3_0"/>
          <p:cNvSpPr/>
          <p:nvPr/>
        </p:nvSpPr>
        <p:spPr>
          <a:xfrm>
            <a:off x="396961" y="2542044"/>
            <a:ext cx="2048700" cy="625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Census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af1df6313f_3_0"/>
          <p:cNvSpPr/>
          <p:nvPr/>
        </p:nvSpPr>
        <p:spPr>
          <a:xfrm>
            <a:off x="373521" y="3207816"/>
            <a:ext cx="2095580" cy="76223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2020 Presidential Election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0650" y="4840062"/>
            <a:ext cx="1719975" cy="1591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1125" y="4807300"/>
            <a:ext cx="1859525" cy="162619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/>
          <p:nvPr/>
        </p:nvSpPr>
        <p:spPr>
          <a:xfrm>
            <a:off x="532814" y="983274"/>
            <a:ext cx="4655400" cy="281100"/>
          </a:xfrm>
          <a:prstGeom prst="roundRect">
            <a:avLst>
              <a:gd fmla="val 16667" name="adj"/>
            </a:avLst>
          </a:prstGeom>
          <a:solidFill>
            <a:srgbClr val="A5A5A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Linear Regression &amp; Principal Component Regression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" name="Google Shape;116;p20"/>
          <p:cNvGrpSpPr/>
          <p:nvPr/>
        </p:nvGrpSpPr>
        <p:grpSpPr>
          <a:xfrm>
            <a:off x="199440" y="2038857"/>
            <a:ext cx="2673294" cy="1632440"/>
            <a:chOff x="1544167" y="1514361"/>
            <a:chExt cx="4206600" cy="933196"/>
          </a:xfrm>
        </p:grpSpPr>
        <p:sp>
          <p:nvSpPr>
            <p:cNvPr id="117" name="Google Shape;117;p20"/>
            <p:cNvSpPr/>
            <p:nvPr/>
          </p:nvSpPr>
          <p:spPr>
            <a:xfrm>
              <a:off x="1544167" y="1615657"/>
              <a:ext cx="4206600" cy="831900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20"/>
            <p:cNvSpPr/>
            <p:nvPr/>
          </p:nvSpPr>
          <p:spPr>
            <a:xfrm>
              <a:off x="1557108" y="1514361"/>
              <a:ext cx="4058100" cy="8682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13426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20"/>
            <p:cNvSpPr txBox="1"/>
            <p:nvPr/>
          </p:nvSpPr>
          <p:spPr>
            <a:xfrm>
              <a:off x="1641980" y="1551785"/>
              <a:ext cx="2362200" cy="21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DESCRIPTION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0"/>
            <p:cNvSpPr txBox="1"/>
            <p:nvPr/>
          </p:nvSpPr>
          <p:spPr>
            <a:xfrm>
              <a:off x="1707873" y="1794252"/>
              <a:ext cx="3855300" cy="61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Scale data with Standard Scaler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PCA captures at least 95% of variance (1</a:t>
              </a:r>
              <a:r>
                <a:rPr lang="en-US" sz="1200">
                  <a:latin typeface="Calibri"/>
                  <a:ea typeface="Calibri"/>
                  <a:cs typeface="Calibri"/>
                  <a:sym typeface="Calibri"/>
                </a:rPr>
                <a:t>4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components)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Char char="•"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R-squared value is approximately 0.5 for all types of regression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t/>
              </a:r>
              <a:endParaRPr b="0" i="0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20"/>
          <p:cNvSpPr/>
          <p:nvPr/>
        </p:nvSpPr>
        <p:spPr>
          <a:xfrm>
            <a:off x="1911952" y="2070592"/>
            <a:ext cx="727800" cy="405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pward trend" id="122" name="Google Shape;12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06349" y="2034222"/>
            <a:ext cx="471154" cy="47115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/>
          <p:nvPr/>
        </p:nvSpPr>
        <p:spPr>
          <a:xfrm>
            <a:off x="686026" y="4208497"/>
            <a:ext cx="4655400" cy="281100"/>
          </a:xfrm>
          <a:prstGeom prst="roundRect">
            <a:avLst>
              <a:gd fmla="val 16667" name="adj"/>
            </a:avLst>
          </a:prstGeom>
          <a:solidFill>
            <a:srgbClr val="777777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Boosted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p20"/>
          <p:cNvCxnSpPr/>
          <p:nvPr/>
        </p:nvCxnSpPr>
        <p:spPr>
          <a:xfrm>
            <a:off x="5945344" y="828980"/>
            <a:ext cx="0" cy="569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5" name="Google Shape;125;p20"/>
          <p:cNvCxnSpPr/>
          <p:nvPr/>
        </p:nvCxnSpPr>
        <p:spPr>
          <a:xfrm rot="10800000">
            <a:off x="6155936" y="3413511"/>
            <a:ext cx="582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6" name="Google Shape;126;p20"/>
          <p:cNvSpPr/>
          <p:nvPr/>
        </p:nvSpPr>
        <p:spPr>
          <a:xfrm>
            <a:off x="9330349" y="1484103"/>
            <a:ext cx="2763900" cy="708900"/>
          </a:xfrm>
          <a:prstGeom prst="rect">
            <a:avLst/>
          </a:prstGeom>
          <a:noFill/>
          <a:ln cap="flat" cmpd="sng" w="254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Initial Split is based on Owner Cost Burden (Higher Cost burden translates to more democratic votes)</a:t>
            </a:r>
            <a:endParaRPr b="0" i="0" sz="13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0"/>
          <p:cNvSpPr/>
          <p:nvPr/>
        </p:nvSpPr>
        <p:spPr>
          <a:xfrm>
            <a:off x="3087625" y="4760666"/>
            <a:ext cx="2763900" cy="523500"/>
          </a:xfrm>
          <a:prstGeom prst="rect">
            <a:avLst/>
          </a:prstGeom>
          <a:noFill/>
          <a:ln cap="flat" cmpd="sng" w="254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Learning rate of 0.001, and interaction depth of 1</a:t>
            </a:r>
            <a:endParaRPr b="0" i="0" sz="13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9330350" y="2303952"/>
            <a:ext cx="2763900" cy="666000"/>
          </a:xfrm>
          <a:prstGeom prst="rect">
            <a:avLst/>
          </a:prstGeom>
          <a:noFill/>
          <a:ln cap="flat" cmpd="sng" w="254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Second Split is based on % of Post Grad (Higher Post Graduate education translates to more democratic votes)</a:t>
            </a:r>
            <a:endParaRPr b="0" i="0" sz="13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20"/>
          <p:cNvCxnSpPr>
            <a:stCxn id="115" idx="2"/>
          </p:cNvCxnSpPr>
          <p:nvPr/>
        </p:nvCxnSpPr>
        <p:spPr>
          <a:xfrm>
            <a:off x="2860514" y="1264374"/>
            <a:ext cx="0" cy="16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" name="Google Shape;130;p20"/>
          <p:cNvCxnSpPr/>
          <p:nvPr/>
        </p:nvCxnSpPr>
        <p:spPr>
          <a:xfrm>
            <a:off x="1974925" y="1440245"/>
            <a:ext cx="177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" name="Google Shape;131;p20"/>
          <p:cNvCxnSpPr/>
          <p:nvPr/>
        </p:nvCxnSpPr>
        <p:spPr>
          <a:xfrm>
            <a:off x="1984400" y="1440245"/>
            <a:ext cx="0" cy="18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" name="Google Shape;132;p20"/>
          <p:cNvCxnSpPr/>
          <p:nvPr/>
        </p:nvCxnSpPr>
        <p:spPr>
          <a:xfrm>
            <a:off x="3746125" y="1440245"/>
            <a:ext cx="0" cy="18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3" name="Google Shape;133;p20"/>
          <p:cNvSpPr/>
          <p:nvPr/>
        </p:nvSpPr>
        <p:spPr>
          <a:xfrm>
            <a:off x="1249698" y="1640270"/>
            <a:ext cx="1469400" cy="186600"/>
          </a:xfrm>
          <a:prstGeom prst="roundRect">
            <a:avLst>
              <a:gd fmla="val 16667" name="adj"/>
            </a:avLst>
          </a:prstGeom>
          <a:solidFill>
            <a:srgbClr val="777777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3011423" y="1640270"/>
            <a:ext cx="1469400" cy="186600"/>
          </a:xfrm>
          <a:prstGeom prst="roundRect">
            <a:avLst>
              <a:gd fmla="val 16667" name="adj"/>
            </a:avLst>
          </a:prstGeom>
          <a:solidFill>
            <a:srgbClr val="777777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Ridge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5" name="Google Shape;135;p20"/>
          <p:cNvGraphicFramePr/>
          <p:nvPr/>
        </p:nvGraphicFramePr>
        <p:xfrm>
          <a:off x="2970863" y="18905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{1FDA4805-2A1D-4A44-BDEA-88B3F0852599}</a:tableStyleId>
              </a:tblPr>
              <a:tblGrid>
                <a:gridCol w="1236875"/>
                <a:gridCol w="605725"/>
                <a:gridCol w="921300"/>
              </a:tblGrid>
              <a:tr h="280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/>
                        <a:t>Regression Type</a:t>
                      </a:r>
                      <a:endParaRPr b="1" sz="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/>
                        <a:t>R^2 Value</a:t>
                      </a:r>
                      <a:endParaRPr b="1" sz="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sz="700" u="none" cap="none" strike="noStrike"/>
                        <a:t>MSE</a:t>
                      </a:r>
                      <a:endParaRPr b="1" sz="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7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Normal Linear Regression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0.51</a:t>
                      </a:r>
                      <a:r>
                        <a:rPr lang="en-US" sz="700"/>
                        <a:t>377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0.0123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Ridge Regression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0.51</a:t>
                      </a:r>
                      <a:r>
                        <a:rPr lang="en-US" sz="700"/>
                        <a:t>388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0.0123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LASSO Regression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6C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0.51</a:t>
                      </a:r>
                      <a:r>
                        <a:rPr lang="en-US" sz="700"/>
                        <a:t>398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6C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0.0123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6C09"/>
                    </a:solidFill>
                  </a:tcPr>
                </a:tc>
              </a:tr>
              <a:tr h="280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PCR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0.48</a:t>
                      </a:r>
                      <a:r>
                        <a:rPr lang="en-US" sz="700"/>
                        <a:t>795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0.01</a:t>
                      </a:r>
                      <a:r>
                        <a:rPr lang="en-US" sz="700"/>
                        <a:t>30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PCR Ridge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0.48</a:t>
                      </a:r>
                      <a:r>
                        <a:rPr lang="en-US" sz="700"/>
                        <a:t>819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0.01</a:t>
                      </a:r>
                      <a:r>
                        <a:rPr lang="en-US" sz="700"/>
                        <a:t>30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PCR LASSO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0.48</a:t>
                      </a:r>
                      <a:r>
                        <a:rPr lang="en-US" sz="700"/>
                        <a:t>795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0.01</a:t>
                      </a:r>
                      <a:r>
                        <a:rPr lang="en-US" sz="700"/>
                        <a:t>30</a:t>
                      </a:r>
                      <a:endParaRPr sz="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6" name="Google Shape;13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5899" y="1190581"/>
            <a:ext cx="3264435" cy="218282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0"/>
          <p:cNvSpPr/>
          <p:nvPr/>
        </p:nvSpPr>
        <p:spPr>
          <a:xfrm>
            <a:off x="10137500" y="3045475"/>
            <a:ext cx="1149600" cy="292500"/>
          </a:xfrm>
          <a:prstGeom prst="rect">
            <a:avLst/>
          </a:prstGeom>
          <a:solidFill>
            <a:srgbClr val="FFFF00"/>
          </a:solidFill>
          <a:ln cap="flat" cmpd="sng" w="254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MSE = 0.0166</a:t>
            </a:r>
            <a:endParaRPr b="0" i="0" sz="13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850" y="4665030"/>
            <a:ext cx="2895950" cy="176116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0"/>
          <p:cNvSpPr/>
          <p:nvPr/>
        </p:nvSpPr>
        <p:spPr>
          <a:xfrm>
            <a:off x="3087625" y="5413168"/>
            <a:ext cx="2763900" cy="292500"/>
          </a:xfrm>
          <a:prstGeom prst="rect">
            <a:avLst/>
          </a:prstGeom>
          <a:noFill/>
          <a:ln cap="flat" cmpd="sng" w="254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 of trees used = 900</a:t>
            </a:r>
            <a:endParaRPr b="0" i="0" sz="13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3626377" y="5834675"/>
            <a:ext cx="1149600" cy="292500"/>
          </a:xfrm>
          <a:prstGeom prst="rect">
            <a:avLst/>
          </a:prstGeom>
          <a:solidFill>
            <a:srgbClr val="FFFF00"/>
          </a:solidFill>
          <a:ln cap="flat" cmpd="sng" w="254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MSE = 0.01</a:t>
            </a:r>
            <a:r>
              <a:rPr lang="en-US" sz="13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20"/>
          <p:cNvCxnSpPr/>
          <p:nvPr/>
        </p:nvCxnSpPr>
        <p:spPr>
          <a:xfrm rot="10800000">
            <a:off x="53444" y="4118875"/>
            <a:ext cx="582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2" name="Google Shape;142;p20"/>
          <p:cNvSpPr/>
          <p:nvPr/>
        </p:nvSpPr>
        <p:spPr>
          <a:xfrm>
            <a:off x="6557284" y="3589947"/>
            <a:ext cx="5024700" cy="281100"/>
          </a:xfrm>
          <a:prstGeom prst="roundRect">
            <a:avLst>
              <a:gd fmla="val 16667" name="adj"/>
            </a:avLst>
          </a:prstGeom>
          <a:solidFill>
            <a:srgbClr val="777777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Support Vector Regression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3" name="Google Shape;143;p20"/>
          <p:cNvGrpSpPr/>
          <p:nvPr/>
        </p:nvGrpSpPr>
        <p:grpSpPr>
          <a:xfrm>
            <a:off x="6269146" y="4034475"/>
            <a:ext cx="2141159" cy="2330464"/>
            <a:chOff x="1433483" y="1417359"/>
            <a:chExt cx="4206600" cy="933193"/>
          </a:xfrm>
        </p:grpSpPr>
        <p:sp>
          <p:nvSpPr>
            <p:cNvPr id="144" name="Google Shape;144;p20"/>
            <p:cNvSpPr/>
            <p:nvPr/>
          </p:nvSpPr>
          <p:spPr>
            <a:xfrm>
              <a:off x="1433483" y="1518652"/>
              <a:ext cx="4206600" cy="831900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20"/>
            <p:cNvSpPr/>
            <p:nvPr/>
          </p:nvSpPr>
          <p:spPr>
            <a:xfrm>
              <a:off x="1433491" y="1417359"/>
              <a:ext cx="4058100" cy="8910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13426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20"/>
            <p:cNvSpPr txBox="1"/>
            <p:nvPr/>
          </p:nvSpPr>
          <p:spPr>
            <a:xfrm>
              <a:off x="1592089" y="1453185"/>
              <a:ext cx="2792100" cy="1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DESCRIPTION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0"/>
            <p:cNvSpPr txBox="1"/>
            <p:nvPr/>
          </p:nvSpPr>
          <p:spPr>
            <a:xfrm>
              <a:off x="1534890" y="1612394"/>
              <a:ext cx="3855300" cy="65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Scale data with Standard Scaler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Char char="•"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 tuning parameters: Epsilon (a margin of tolerance where no penalty is given to errors), and Cost (a regularization parameter)</a:t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t/>
              </a:r>
              <a:endParaRPr b="0" i="0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8" name="Google Shape;148;p20"/>
          <p:cNvSpPr/>
          <p:nvPr/>
        </p:nvSpPr>
        <p:spPr>
          <a:xfrm>
            <a:off x="7695848" y="4134068"/>
            <a:ext cx="561300" cy="3486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pward trend" id="149" name="Google Shape;14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94805" y="4105725"/>
            <a:ext cx="363383" cy="40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/>
          <p:nvPr/>
        </p:nvSpPr>
        <p:spPr>
          <a:xfrm>
            <a:off x="8661663" y="3975363"/>
            <a:ext cx="1363200" cy="666000"/>
          </a:xfrm>
          <a:prstGeom prst="rect">
            <a:avLst/>
          </a:prstGeom>
          <a:noFill/>
          <a:ln cap="flat" cmpd="sng" w="254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Best parameters:</a:t>
            </a:r>
            <a:endParaRPr b="0" i="0" sz="13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Epsilon = 0.02</a:t>
            </a:r>
            <a:endParaRPr b="0" i="0" sz="13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Cost = 0.6</a:t>
            </a:r>
            <a:endParaRPr b="0" i="0" sz="13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10378900" y="3988025"/>
            <a:ext cx="1110000" cy="292500"/>
          </a:xfrm>
          <a:prstGeom prst="rect">
            <a:avLst/>
          </a:prstGeom>
          <a:solidFill>
            <a:srgbClr val="FFFF00"/>
          </a:solidFill>
          <a:ln cap="flat" cmpd="sng" w="254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MSE = 0.0081</a:t>
            </a:r>
            <a:endParaRPr b="0" i="0" sz="13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10734025" y="5575051"/>
            <a:ext cx="1296600" cy="110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9014050" y="6316100"/>
            <a:ext cx="1296600" cy="110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9014050" y="5696700"/>
            <a:ext cx="1296600" cy="110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10734025" y="5413163"/>
            <a:ext cx="1296600" cy="137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6039175" y="3453600"/>
            <a:ext cx="6060900" cy="3084900"/>
          </a:xfrm>
          <a:prstGeom prst="frame">
            <a:avLst>
              <a:gd fmla="val 444" name="adj1"/>
            </a:avLst>
          </a:prstGeom>
          <a:noFill/>
          <a:ln cap="flat" cmpd="sng" w="38100">
            <a:solidFill>
              <a:srgbClr val="E36C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10232500" y="4384713"/>
            <a:ext cx="1671600" cy="281100"/>
          </a:xfrm>
          <a:prstGeom prst="rect">
            <a:avLst/>
          </a:prstGeom>
          <a:solidFill>
            <a:srgbClr val="FFFF00"/>
          </a:solidFill>
          <a:ln cap="flat" cmpd="sng" w="254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Testing MSE = 0.0213</a:t>
            </a:r>
            <a:endParaRPr b="0" i="0" sz="13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0" y="6574971"/>
            <a:ext cx="12192000" cy="282900"/>
          </a:xfrm>
          <a:prstGeom prst="rect">
            <a:avLst/>
          </a:prstGeom>
          <a:solidFill>
            <a:srgbClr val="323F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 txBox="1"/>
          <p:nvPr>
            <p:ph idx="12" type="sldNum"/>
          </p:nvPr>
        </p:nvSpPr>
        <p:spPr>
          <a:xfrm>
            <a:off x="11373081" y="6594371"/>
            <a:ext cx="7971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 of 5</a:t>
            </a:r>
            <a:endParaRPr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532813" y="983273"/>
            <a:ext cx="5014545" cy="302721"/>
          </a:xfrm>
          <a:prstGeom prst="roundRect">
            <a:avLst>
              <a:gd fmla="val 16667" name="adj"/>
            </a:avLst>
          </a:prstGeom>
          <a:solidFill>
            <a:srgbClr val="777777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Linear Regression &amp; Principal Component Regression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6541534" y="979210"/>
            <a:ext cx="5024700" cy="306589"/>
          </a:xfrm>
          <a:prstGeom prst="roundRect">
            <a:avLst>
              <a:gd fmla="val 16667" name="adj"/>
            </a:avLst>
          </a:prstGeom>
          <a:solidFill>
            <a:srgbClr val="777777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Regression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0"/>
          <p:cNvSpPr txBox="1"/>
          <p:nvPr>
            <p:ph type="title"/>
          </p:nvPr>
        </p:nvSpPr>
        <p:spPr>
          <a:xfrm>
            <a:off x="116300" y="43024"/>
            <a:ext cx="9876786" cy="703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lang="en-US" sz="2100">
                <a:latin typeface="Calibri"/>
                <a:ea typeface="Calibri"/>
                <a:cs typeface="Calibri"/>
                <a:sym typeface="Calibri"/>
              </a:rPr>
              <a:t>TESTING FOUR DIFFERENT MODELS ALLOWED US TO BETTER UNDERSTAND FEATURE IMPORTANCE AND SELECT THE BEST MODEL BASED ON LOWEST MSE</a:t>
            </a:r>
            <a:endParaRPr/>
          </a:p>
        </p:txBody>
      </p:sp>
      <p:grpSp>
        <p:nvGrpSpPr>
          <p:cNvPr id="163" name="Google Shape;163;p20"/>
          <p:cNvGrpSpPr/>
          <p:nvPr/>
        </p:nvGrpSpPr>
        <p:grpSpPr>
          <a:xfrm>
            <a:off x="0" y="546854"/>
            <a:ext cx="12192000" cy="384266"/>
            <a:chOff x="0" y="384809"/>
            <a:chExt cx="12192000" cy="384266"/>
          </a:xfrm>
        </p:grpSpPr>
        <p:sp>
          <p:nvSpPr>
            <p:cNvPr id="164" name="Google Shape;164;p20"/>
            <p:cNvSpPr/>
            <p:nvPr/>
          </p:nvSpPr>
          <p:spPr>
            <a:xfrm>
              <a:off x="0" y="559011"/>
              <a:ext cx="9756000" cy="210063"/>
            </a:xfrm>
            <a:prstGeom prst="rect">
              <a:avLst/>
            </a:prstGeom>
            <a:solidFill>
              <a:srgbClr val="323F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20"/>
            <p:cNvSpPr/>
            <p:nvPr/>
          </p:nvSpPr>
          <p:spPr>
            <a:xfrm>
              <a:off x="9756000" y="384809"/>
              <a:ext cx="237086" cy="384266"/>
            </a:xfrm>
            <a:custGeom>
              <a:rect b="b" l="l" r="r" t="t"/>
              <a:pathLst>
                <a:path extrusionOk="0" h="877824" w="524256">
                  <a:moveTo>
                    <a:pt x="0" y="390144"/>
                  </a:moveTo>
                  <a:lnTo>
                    <a:pt x="524256" y="0"/>
                  </a:lnTo>
                  <a:cubicBezTo>
                    <a:pt x="523557" y="167608"/>
                    <a:pt x="522859" y="335217"/>
                    <a:pt x="522160" y="502825"/>
                  </a:cubicBezTo>
                  <a:lnTo>
                    <a:pt x="0" y="877824"/>
                  </a:lnTo>
                  <a:lnTo>
                    <a:pt x="0" y="390144"/>
                  </a:lnTo>
                  <a:close/>
                </a:path>
              </a:pathLst>
            </a:custGeom>
            <a:solidFill>
              <a:srgbClr val="323F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20"/>
            <p:cNvSpPr/>
            <p:nvPr/>
          </p:nvSpPr>
          <p:spPr>
            <a:xfrm>
              <a:off x="9993086" y="384809"/>
              <a:ext cx="2198914" cy="208800"/>
            </a:xfrm>
            <a:prstGeom prst="rect">
              <a:avLst/>
            </a:prstGeom>
            <a:solidFill>
              <a:srgbClr val="323F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7" name="Google Shape;167;p20"/>
          <p:cNvSpPr txBox="1"/>
          <p:nvPr/>
        </p:nvSpPr>
        <p:spPr>
          <a:xfrm>
            <a:off x="2361252" y="6591881"/>
            <a:ext cx="7469495" cy="2442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TEAM 12 – IEOR 4650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af1df6313f_3_204"/>
          <p:cNvSpPr/>
          <p:nvPr/>
        </p:nvSpPr>
        <p:spPr>
          <a:xfrm>
            <a:off x="1539433" y="2106487"/>
            <a:ext cx="4097438" cy="388106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gaf1df6313f_3_2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8302" y="1021200"/>
            <a:ext cx="4383329" cy="538437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5" name="Google Shape;175;gaf1df6313f_3_204"/>
          <p:cNvSpPr txBox="1"/>
          <p:nvPr/>
        </p:nvSpPr>
        <p:spPr>
          <a:xfrm>
            <a:off x="420369" y="5995421"/>
            <a:ext cx="6478142" cy="57168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are 71 counties that could improve for Democratic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88 counties performed better than we predicted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gaf1df6313f_3_204"/>
          <p:cNvPicPr preferRelativeResize="0"/>
          <p:nvPr/>
        </p:nvPicPr>
        <p:blipFill rotWithShape="1">
          <a:blip r:embed="rId4">
            <a:alphaModFix/>
          </a:blip>
          <a:srcRect b="0" l="14919" r="3640" t="0"/>
          <a:stretch/>
        </p:blipFill>
        <p:spPr>
          <a:xfrm>
            <a:off x="1785725" y="2163622"/>
            <a:ext cx="3571788" cy="376670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af1df6313f_3_204"/>
          <p:cNvSpPr/>
          <p:nvPr/>
        </p:nvSpPr>
        <p:spPr>
          <a:xfrm>
            <a:off x="0" y="6574971"/>
            <a:ext cx="12192000" cy="282900"/>
          </a:xfrm>
          <a:prstGeom prst="rect">
            <a:avLst/>
          </a:prstGeom>
          <a:solidFill>
            <a:srgbClr val="323F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af1df6313f_3_204"/>
          <p:cNvSpPr txBox="1"/>
          <p:nvPr>
            <p:ph idx="12" type="sldNum"/>
          </p:nvPr>
        </p:nvSpPr>
        <p:spPr>
          <a:xfrm>
            <a:off x="11373081" y="6594371"/>
            <a:ext cx="7971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en-US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 of 5</a:t>
            </a:r>
            <a:endParaRPr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af1df6313f_3_204"/>
          <p:cNvSpPr txBox="1"/>
          <p:nvPr/>
        </p:nvSpPr>
        <p:spPr>
          <a:xfrm>
            <a:off x="2361252" y="6591881"/>
            <a:ext cx="7469495" cy="2442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TEAM 12 – IEOR 4650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af1df6313f_3_204"/>
          <p:cNvSpPr txBox="1"/>
          <p:nvPr/>
        </p:nvSpPr>
        <p:spPr>
          <a:xfrm>
            <a:off x="116300" y="43024"/>
            <a:ext cx="9876786" cy="703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IDENTIFICATION OF COUNTIES BASED ON OVERPERFORMING AND UNDERPERFORMING TURNOUT ALLOWS FOR A TARGETED AD CAMPAIGN</a:t>
            </a:r>
            <a:endParaRPr b="0" i="0" sz="6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1" name="Google Shape;181;gaf1df6313f_3_204"/>
          <p:cNvGrpSpPr/>
          <p:nvPr/>
        </p:nvGrpSpPr>
        <p:grpSpPr>
          <a:xfrm>
            <a:off x="0" y="546854"/>
            <a:ext cx="12192000" cy="384266"/>
            <a:chOff x="0" y="384809"/>
            <a:chExt cx="12192000" cy="384266"/>
          </a:xfrm>
        </p:grpSpPr>
        <p:sp>
          <p:nvSpPr>
            <p:cNvPr id="182" name="Google Shape;182;gaf1df6313f_3_204"/>
            <p:cNvSpPr/>
            <p:nvPr/>
          </p:nvSpPr>
          <p:spPr>
            <a:xfrm>
              <a:off x="0" y="559011"/>
              <a:ext cx="9756000" cy="210063"/>
            </a:xfrm>
            <a:prstGeom prst="rect">
              <a:avLst/>
            </a:prstGeom>
            <a:solidFill>
              <a:srgbClr val="323F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gaf1df6313f_3_204"/>
            <p:cNvSpPr/>
            <p:nvPr/>
          </p:nvSpPr>
          <p:spPr>
            <a:xfrm>
              <a:off x="9756000" y="384809"/>
              <a:ext cx="237086" cy="384266"/>
            </a:xfrm>
            <a:custGeom>
              <a:rect b="b" l="l" r="r" t="t"/>
              <a:pathLst>
                <a:path extrusionOk="0" h="877824" w="524256">
                  <a:moveTo>
                    <a:pt x="0" y="390144"/>
                  </a:moveTo>
                  <a:lnTo>
                    <a:pt x="524256" y="0"/>
                  </a:lnTo>
                  <a:cubicBezTo>
                    <a:pt x="523557" y="167608"/>
                    <a:pt x="522859" y="335217"/>
                    <a:pt x="522160" y="502825"/>
                  </a:cubicBezTo>
                  <a:lnTo>
                    <a:pt x="0" y="877824"/>
                  </a:lnTo>
                  <a:lnTo>
                    <a:pt x="0" y="390144"/>
                  </a:lnTo>
                  <a:close/>
                </a:path>
              </a:pathLst>
            </a:custGeom>
            <a:solidFill>
              <a:srgbClr val="323F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gaf1df6313f_3_204"/>
            <p:cNvSpPr/>
            <p:nvPr/>
          </p:nvSpPr>
          <p:spPr>
            <a:xfrm>
              <a:off x="9993086" y="384809"/>
              <a:ext cx="2198914" cy="208800"/>
            </a:xfrm>
            <a:prstGeom prst="rect">
              <a:avLst/>
            </a:prstGeom>
            <a:solidFill>
              <a:srgbClr val="323F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gaf1df6313f_3_204"/>
          <p:cNvSpPr/>
          <p:nvPr/>
        </p:nvSpPr>
        <p:spPr>
          <a:xfrm>
            <a:off x="381083" y="967730"/>
            <a:ext cx="1502766" cy="474261"/>
          </a:xfrm>
          <a:prstGeom prst="rect">
            <a:avLst/>
          </a:prstGeom>
          <a:solidFill>
            <a:srgbClr val="777777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Potential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af1df6313f_3_204"/>
          <p:cNvSpPr/>
          <p:nvPr/>
        </p:nvSpPr>
        <p:spPr>
          <a:xfrm>
            <a:off x="2570444" y="1010311"/>
            <a:ext cx="1721866" cy="474261"/>
          </a:xfrm>
          <a:prstGeom prst="rect">
            <a:avLst/>
          </a:prstGeom>
          <a:solidFill>
            <a:srgbClr val="DDDDDD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Output for % Voting Democrat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af1df6313f_3_204"/>
          <p:cNvSpPr/>
          <p:nvPr/>
        </p:nvSpPr>
        <p:spPr>
          <a:xfrm>
            <a:off x="4924292" y="1028038"/>
            <a:ext cx="1479410" cy="474262"/>
          </a:xfrm>
          <a:prstGeom prst="rect">
            <a:avLst/>
          </a:prstGeom>
          <a:solidFill>
            <a:srgbClr val="DDDDDD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Census Voting Age Population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af1df6313f_3_204"/>
          <p:cNvSpPr/>
          <p:nvPr/>
        </p:nvSpPr>
        <p:spPr>
          <a:xfrm>
            <a:off x="1953472" y="1071556"/>
            <a:ext cx="547349" cy="306955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af1df6313f_3_204"/>
          <p:cNvSpPr/>
          <p:nvPr/>
        </p:nvSpPr>
        <p:spPr>
          <a:xfrm>
            <a:off x="4400522" y="1106977"/>
            <a:ext cx="444308" cy="306955"/>
          </a:xfrm>
          <a:prstGeom prst="mathMultiply">
            <a:avLst>
              <a:gd fmla="val 23520" name="adj1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af1df6313f_3_204"/>
          <p:cNvSpPr/>
          <p:nvPr/>
        </p:nvSpPr>
        <p:spPr>
          <a:xfrm>
            <a:off x="381083" y="1539701"/>
            <a:ext cx="1502765" cy="474262"/>
          </a:xfrm>
          <a:prstGeom prst="rect">
            <a:avLst/>
          </a:prstGeom>
          <a:solidFill>
            <a:srgbClr val="777777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af1df6313f_3_204"/>
          <p:cNvSpPr/>
          <p:nvPr/>
        </p:nvSpPr>
        <p:spPr>
          <a:xfrm>
            <a:off x="1953472" y="1610390"/>
            <a:ext cx="547349" cy="306955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af1df6313f_3_204"/>
          <p:cNvSpPr/>
          <p:nvPr/>
        </p:nvSpPr>
        <p:spPr>
          <a:xfrm>
            <a:off x="2533869" y="1577096"/>
            <a:ext cx="3733306" cy="474261"/>
          </a:xfrm>
          <a:prstGeom prst="rect">
            <a:avLst/>
          </a:prstGeom>
          <a:solidFill>
            <a:srgbClr val="DDDDDD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2020 Presidential Election Georgia 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af1df6313f_3_204"/>
          <p:cNvSpPr/>
          <p:nvPr/>
        </p:nvSpPr>
        <p:spPr>
          <a:xfrm>
            <a:off x="1741519" y="2453529"/>
            <a:ext cx="3733306" cy="319459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af1df6313f_3_204"/>
          <p:cNvSpPr/>
          <p:nvPr/>
        </p:nvSpPr>
        <p:spPr>
          <a:xfrm>
            <a:off x="1704966" y="5505796"/>
            <a:ext cx="3733306" cy="319459"/>
          </a:xfrm>
          <a:prstGeom prst="rect">
            <a:avLst/>
          </a:prstGeom>
          <a:noFill/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" name="Google Shape;195;gaf1df6313f_3_204"/>
          <p:cNvCxnSpPr>
            <a:endCxn id="196" idx="3"/>
          </p:cNvCxnSpPr>
          <p:nvPr/>
        </p:nvCxnSpPr>
        <p:spPr>
          <a:xfrm>
            <a:off x="5474397" y="2779333"/>
            <a:ext cx="3212400" cy="636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7" name="Google Shape;197;gaf1df6313f_3_204"/>
          <p:cNvCxnSpPr>
            <a:stCxn id="194" idx="3"/>
            <a:endCxn id="198" idx="6"/>
          </p:cNvCxnSpPr>
          <p:nvPr/>
        </p:nvCxnSpPr>
        <p:spPr>
          <a:xfrm flipH="1" rot="10800000">
            <a:off x="5438272" y="3238526"/>
            <a:ext cx="2854800" cy="24270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6" name="Google Shape;196;gaf1df6313f_3_204"/>
          <p:cNvSpPr/>
          <p:nvPr/>
        </p:nvSpPr>
        <p:spPr>
          <a:xfrm>
            <a:off x="8628380" y="3101340"/>
            <a:ext cx="154940" cy="314960"/>
          </a:xfrm>
          <a:custGeom>
            <a:rect b="b" l="l" r="r" t="t"/>
            <a:pathLst>
              <a:path extrusionOk="0" h="314960" w="154940">
                <a:moveTo>
                  <a:pt x="81280" y="5080"/>
                </a:moveTo>
                <a:lnTo>
                  <a:pt x="154940" y="0"/>
                </a:lnTo>
                <a:lnTo>
                  <a:pt x="81280" y="314960"/>
                </a:lnTo>
                <a:lnTo>
                  <a:pt x="58420" y="314960"/>
                </a:lnTo>
                <a:lnTo>
                  <a:pt x="0" y="104140"/>
                </a:lnTo>
                <a:lnTo>
                  <a:pt x="81280" y="5080"/>
                </a:lnTo>
                <a:close/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af1df6313f_3_204"/>
          <p:cNvSpPr/>
          <p:nvPr/>
        </p:nvSpPr>
        <p:spPr>
          <a:xfrm>
            <a:off x="8293100" y="2542540"/>
            <a:ext cx="640080" cy="713740"/>
          </a:xfrm>
          <a:custGeom>
            <a:rect b="b" l="l" r="r" t="t"/>
            <a:pathLst>
              <a:path extrusionOk="0" h="713740" w="640080">
                <a:moveTo>
                  <a:pt x="505460" y="0"/>
                </a:moveTo>
                <a:lnTo>
                  <a:pt x="640080" y="142240"/>
                </a:lnTo>
                <a:lnTo>
                  <a:pt x="492760" y="241300"/>
                </a:lnTo>
                <a:lnTo>
                  <a:pt x="421640" y="553720"/>
                </a:lnTo>
                <a:lnTo>
                  <a:pt x="322580" y="665480"/>
                </a:lnTo>
                <a:lnTo>
                  <a:pt x="208280" y="713740"/>
                </a:lnTo>
                <a:lnTo>
                  <a:pt x="0" y="695960"/>
                </a:lnTo>
                <a:lnTo>
                  <a:pt x="33020" y="635000"/>
                </a:lnTo>
                <a:lnTo>
                  <a:pt x="223520" y="474980"/>
                </a:lnTo>
                <a:lnTo>
                  <a:pt x="375920" y="81280"/>
                </a:lnTo>
                <a:lnTo>
                  <a:pt x="505460" y="0"/>
                </a:lnTo>
                <a:close/>
              </a:path>
            </a:pathLst>
          </a:cu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"/>
          <p:cNvSpPr/>
          <p:nvPr/>
        </p:nvSpPr>
        <p:spPr>
          <a:xfrm>
            <a:off x="0" y="6561666"/>
            <a:ext cx="12192000" cy="296333"/>
          </a:xfrm>
          <a:prstGeom prst="rect">
            <a:avLst/>
          </a:prstGeom>
          <a:solidFill>
            <a:srgbClr val="1A2C64"/>
          </a:solidFill>
          <a:ln>
            <a:noFill/>
          </a:ln>
          <a:effectLst>
            <a:outerShdw blurRad="40000" rotWithShape="0" dir="5400000" dist="23000">
              <a:srgbClr val="808080">
                <a:alpha val="3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1580100" y="4894196"/>
            <a:ext cx="8871838" cy="1331798"/>
          </a:xfrm>
          <a:custGeom>
            <a:rect b="b" l="l" r="r" t="t"/>
            <a:pathLst>
              <a:path extrusionOk="0" h="764162" w="5625954">
                <a:moveTo>
                  <a:pt x="0" y="0"/>
                </a:moveTo>
                <a:lnTo>
                  <a:pt x="3463633" y="0"/>
                </a:lnTo>
                <a:lnTo>
                  <a:pt x="3463633" y="895"/>
                </a:lnTo>
                <a:lnTo>
                  <a:pt x="5233237" y="895"/>
                </a:lnTo>
                <a:lnTo>
                  <a:pt x="5430033" y="190312"/>
                </a:lnTo>
                <a:lnTo>
                  <a:pt x="5625954" y="382529"/>
                </a:lnTo>
                <a:lnTo>
                  <a:pt x="5430033" y="574745"/>
                </a:lnTo>
                <a:lnTo>
                  <a:pt x="5233237" y="764162"/>
                </a:lnTo>
                <a:lnTo>
                  <a:pt x="3463633" y="764162"/>
                </a:lnTo>
                <a:lnTo>
                  <a:pt x="2975772" y="764162"/>
                </a:lnTo>
                <a:lnTo>
                  <a:pt x="0" y="764162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" dir="5400000" dist="254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1580099" y="3258918"/>
            <a:ext cx="9415849" cy="1331798"/>
          </a:xfrm>
          <a:custGeom>
            <a:rect b="b" l="l" r="r" t="t"/>
            <a:pathLst>
              <a:path extrusionOk="0" h="764162" w="5172672">
                <a:moveTo>
                  <a:pt x="0" y="0"/>
                </a:moveTo>
                <a:lnTo>
                  <a:pt x="3352425" y="0"/>
                </a:lnTo>
                <a:lnTo>
                  <a:pt x="3352425" y="895"/>
                </a:lnTo>
                <a:lnTo>
                  <a:pt x="4779955" y="895"/>
                </a:lnTo>
                <a:lnTo>
                  <a:pt x="4976751" y="190312"/>
                </a:lnTo>
                <a:lnTo>
                  <a:pt x="5172672" y="382529"/>
                </a:lnTo>
                <a:lnTo>
                  <a:pt x="4976751" y="574745"/>
                </a:lnTo>
                <a:lnTo>
                  <a:pt x="4779955" y="764162"/>
                </a:lnTo>
                <a:lnTo>
                  <a:pt x="3352425" y="764162"/>
                </a:lnTo>
                <a:lnTo>
                  <a:pt x="2522490" y="764162"/>
                </a:lnTo>
                <a:lnTo>
                  <a:pt x="0" y="764162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" dir="5400000" dist="254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1580100" y="1611192"/>
            <a:ext cx="10023843" cy="1331798"/>
          </a:xfrm>
          <a:custGeom>
            <a:rect b="b" l="l" r="r" t="t"/>
            <a:pathLst>
              <a:path extrusionOk="0" h="764162" w="4709920">
                <a:moveTo>
                  <a:pt x="0" y="0"/>
                </a:moveTo>
                <a:lnTo>
                  <a:pt x="3051594" y="0"/>
                </a:lnTo>
                <a:lnTo>
                  <a:pt x="3051594" y="895"/>
                </a:lnTo>
                <a:lnTo>
                  <a:pt x="4317203" y="895"/>
                </a:lnTo>
                <a:lnTo>
                  <a:pt x="4513999" y="190312"/>
                </a:lnTo>
                <a:lnTo>
                  <a:pt x="4709920" y="382529"/>
                </a:lnTo>
                <a:lnTo>
                  <a:pt x="4513999" y="574745"/>
                </a:lnTo>
                <a:lnTo>
                  <a:pt x="4317203" y="764162"/>
                </a:lnTo>
                <a:lnTo>
                  <a:pt x="3051594" y="764162"/>
                </a:lnTo>
                <a:lnTo>
                  <a:pt x="2059738" y="764162"/>
                </a:lnTo>
                <a:lnTo>
                  <a:pt x="0" y="764162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" dir="5400000" dist="254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572912" y="4894196"/>
            <a:ext cx="1007188" cy="1007188"/>
          </a:xfrm>
          <a:prstGeom prst="rect">
            <a:avLst/>
          </a:prstGeom>
          <a:solidFill>
            <a:srgbClr val="C58C3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88057" y="3258918"/>
            <a:ext cx="1007188" cy="1007188"/>
          </a:xfrm>
          <a:prstGeom prst="rect">
            <a:avLst/>
          </a:prstGeom>
          <a:solidFill>
            <a:srgbClr val="D6D6D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588057" y="1611192"/>
            <a:ext cx="1007188" cy="1007188"/>
          </a:xfrm>
          <a:prstGeom prst="rect">
            <a:avLst/>
          </a:prstGeom>
          <a:solidFill>
            <a:srgbClr val="C8C55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1595879" y="1622493"/>
            <a:ext cx="8240975" cy="11387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understanding leads to understanding Democratic Demographics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importance for highly Democratic Counties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Leads to building targeted campaign ads per area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457654" y="981094"/>
            <a:ext cx="2771681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 Added</a:t>
            </a:r>
            <a:endParaRPr b="0" i="0" sz="20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1595879" y="3278792"/>
            <a:ext cx="7882159" cy="1292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Counties that act like Democrats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Democrat areas but low votes is a turnout issue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 Democrat areas with low votes is a matter of changing minds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1595879" y="4893643"/>
            <a:ext cx="8911849" cy="1292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Doing well where we shouldn’t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 lessons from areas where the demographic isn’t Democrat but votes are higher than predicted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these lessons elsewhere with the potential for similar results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 txBox="1"/>
          <p:nvPr>
            <p:ph type="title"/>
          </p:nvPr>
        </p:nvSpPr>
        <p:spPr>
          <a:xfrm>
            <a:off x="116300" y="43024"/>
            <a:ext cx="9876786" cy="703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lang="en-US" sz="2100">
                <a:latin typeface="Calibri"/>
                <a:ea typeface="Calibri"/>
                <a:cs typeface="Calibri"/>
                <a:sym typeface="Calibri"/>
              </a:rPr>
              <a:t>VALUE ADDED TO THE DEMOCRATIC PARTY IS UNDERSTANDING DEMOGRAPHICS, COUNTIES THAT ARE HIGHLY DEMOCRATIC, AND COUNTIES THEY OUTPERFORMED</a:t>
            </a:r>
            <a:endParaRPr/>
          </a:p>
        </p:txBody>
      </p:sp>
      <p:grpSp>
        <p:nvGrpSpPr>
          <p:cNvPr id="216" name="Google Shape;216;p7"/>
          <p:cNvGrpSpPr/>
          <p:nvPr/>
        </p:nvGrpSpPr>
        <p:grpSpPr>
          <a:xfrm>
            <a:off x="0" y="546854"/>
            <a:ext cx="12192000" cy="384266"/>
            <a:chOff x="0" y="384809"/>
            <a:chExt cx="12192000" cy="384266"/>
          </a:xfrm>
        </p:grpSpPr>
        <p:sp>
          <p:nvSpPr>
            <p:cNvPr id="217" name="Google Shape;217;p7"/>
            <p:cNvSpPr/>
            <p:nvPr/>
          </p:nvSpPr>
          <p:spPr>
            <a:xfrm>
              <a:off x="0" y="559011"/>
              <a:ext cx="9756000" cy="210063"/>
            </a:xfrm>
            <a:prstGeom prst="rect">
              <a:avLst/>
            </a:prstGeom>
            <a:solidFill>
              <a:srgbClr val="323F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7"/>
            <p:cNvSpPr/>
            <p:nvPr/>
          </p:nvSpPr>
          <p:spPr>
            <a:xfrm>
              <a:off x="9756000" y="384809"/>
              <a:ext cx="237086" cy="384266"/>
            </a:xfrm>
            <a:custGeom>
              <a:rect b="b" l="l" r="r" t="t"/>
              <a:pathLst>
                <a:path extrusionOk="0" h="877824" w="524256">
                  <a:moveTo>
                    <a:pt x="0" y="390144"/>
                  </a:moveTo>
                  <a:lnTo>
                    <a:pt x="524256" y="0"/>
                  </a:lnTo>
                  <a:cubicBezTo>
                    <a:pt x="523557" y="167608"/>
                    <a:pt x="522859" y="335217"/>
                    <a:pt x="522160" y="502825"/>
                  </a:cubicBezTo>
                  <a:lnTo>
                    <a:pt x="0" y="877824"/>
                  </a:lnTo>
                  <a:lnTo>
                    <a:pt x="0" y="390144"/>
                  </a:lnTo>
                  <a:close/>
                </a:path>
              </a:pathLst>
            </a:custGeom>
            <a:solidFill>
              <a:srgbClr val="323F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7"/>
            <p:cNvSpPr/>
            <p:nvPr/>
          </p:nvSpPr>
          <p:spPr>
            <a:xfrm>
              <a:off x="9993086" y="384809"/>
              <a:ext cx="2198914" cy="208800"/>
            </a:xfrm>
            <a:prstGeom prst="rect">
              <a:avLst/>
            </a:prstGeom>
            <a:solidFill>
              <a:srgbClr val="323F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7"/>
          <p:cNvSpPr/>
          <p:nvPr/>
        </p:nvSpPr>
        <p:spPr>
          <a:xfrm>
            <a:off x="0" y="6574971"/>
            <a:ext cx="12192000" cy="283029"/>
          </a:xfrm>
          <a:prstGeom prst="rect">
            <a:avLst/>
          </a:prstGeom>
          <a:solidFill>
            <a:srgbClr val="323F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 txBox="1"/>
          <p:nvPr>
            <p:ph idx="12" type="sldNum"/>
          </p:nvPr>
        </p:nvSpPr>
        <p:spPr>
          <a:xfrm>
            <a:off x="11373081" y="6594371"/>
            <a:ext cx="797240" cy="2442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F2F2F2"/>
                </a:solidFill>
              </a:rPr>
              <a:t> 5 of </a:t>
            </a:r>
            <a:fld id="{00000000-1234-1234-1234-123412341234}" type="slidenum">
              <a:rPr lang="en-US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"/>
          <p:cNvSpPr txBox="1"/>
          <p:nvPr/>
        </p:nvSpPr>
        <p:spPr>
          <a:xfrm>
            <a:off x="2361252" y="6591881"/>
            <a:ext cx="7469495" cy="2442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TEAM 12 – IEOR 4650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19"/>
          <p:cNvPicPr preferRelativeResize="0"/>
          <p:nvPr/>
        </p:nvPicPr>
        <p:blipFill rotWithShape="1">
          <a:blip r:embed="rId3">
            <a:alphaModFix/>
          </a:blip>
          <a:srcRect b="0" l="0" r="0" t="4158"/>
          <a:stretch/>
        </p:blipFill>
        <p:spPr>
          <a:xfrm>
            <a:off x="-1" y="0"/>
            <a:ext cx="12192001" cy="6574969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9"/>
          <p:cNvSpPr/>
          <p:nvPr/>
        </p:nvSpPr>
        <p:spPr>
          <a:xfrm>
            <a:off x="0" y="6574971"/>
            <a:ext cx="12192000" cy="283029"/>
          </a:xfrm>
          <a:prstGeom prst="rect">
            <a:avLst/>
          </a:prstGeom>
          <a:solidFill>
            <a:srgbClr val="183E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 txBox="1"/>
          <p:nvPr>
            <p:ph idx="12" type="sldNum"/>
          </p:nvPr>
        </p:nvSpPr>
        <p:spPr>
          <a:xfrm>
            <a:off x="11373081" y="6594371"/>
            <a:ext cx="797240" cy="2442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2087721" y="1446811"/>
            <a:ext cx="8207708" cy="1108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13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2" name="Google Shape;232;p19"/>
          <p:cNvCxnSpPr/>
          <p:nvPr/>
        </p:nvCxnSpPr>
        <p:spPr>
          <a:xfrm>
            <a:off x="2221614" y="2465425"/>
            <a:ext cx="7939923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19"/>
          <p:cNvSpPr txBox="1"/>
          <p:nvPr/>
        </p:nvSpPr>
        <p:spPr>
          <a:xfrm>
            <a:off x="2361252" y="6591881"/>
            <a:ext cx="7469495" cy="2442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TEAM 12 – IEOR 4650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2019-12-02T20:25:48Z</dcterms:created>
  <dc:creator>Þorsteinn Jónsson</dc:creator>
</cp:coreProperties>
</file>